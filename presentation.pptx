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E79"/>
                </a:solidFill>
              </a:defRPr>
            </a:pPr>
            <a:r>
              <a:t>Explainable AI for Mental Health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Addressing Bias and Transparency in AI-Based Mental Health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Summen Zahid (B00996747) | COM772 - Emerging and Advanced Topics in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Introduction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/>
            </a:pPr>
            <a:r>
              <a:t>Building on CW1 research on ethical implications of mental health AI</a:t>
            </a:r>
          </a:p>
          <a:p>
            <a:pPr>
              <a:spcBef>
                <a:spcPts val="1200"/>
              </a:spcBef>
              <a:defRPr sz="1800"/>
            </a:pPr>
            <a:r>
              <a:t>Key concerns identified:</a:t>
            </a:r>
          </a:p>
          <a:p>
            <a:pPr>
              <a:spcBef>
                <a:spcPts val="1200"/>
              </a:spcBef>
              <a:defRPr sz="1800"/>
            </a:pPr>
            <a:r>
              <a:t>  • Patient safety and reliability</a:t>
            </a:r>
          </a:p>
          <a:p>
            <a:pPr>
              <a:spcBef>
                <a:spcPts val="1200"/>
              </a:spcBef>
              <a:defRPr sz="1800"/>
            </a:pPr>
            <a:r>
              <a:t>  • Algorithmic bias and fairness</a:t>
            </a:r>
          </a:p>
          <a:p>
            <a:pPr>
              <a:spcBef>
                <a:spcPts val="1200"/>
              </a:spcBef>
              <a:defRPr sz="1800"/>
            </a:pPr>
            <a:r>
              <a:t>  • Lack of transparency in AI decision-making</a:t>
            </a:r>
          </a:p>
          <a:p>
            <a:pPr>
              <a:spcBef>
                <a:spcPts val="1200"/>
              </a:spcBef>
              <a:defRPr sz="1800"/>
            </a:pPr>
            <a:r>
              <a:t>  • Data privacy and consent</a:t>
            </a:r>
          </a:p>
          <a:p>
            <a:pPr>
              <a:spcBef>
                <a:spcPts val="1200"/>
              </a:spcBef>
              <a:defRPr sz="1800"/>
            </a:pPr>
            <a:r>
              <a:t>This project addresses these concerns through Explainable AI (XAI) techniques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Research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/>
            </a:pPr>
            <a:r>
              <a:t>1. Can XAI techniques (SHAP, LIME) make mental health AI more transparent?</a:t>
            </a:r>
          </a:p>
          <a:p>
            <a:pPr>
              <a:spcBef>
                <a:spcPts val="1200"/>
              </a:spcBef>
              <a:defRPr sz="1800"/>
            </a:pPr>
            <a:r>
              <a:t>2. How can we detect and measure bias in mental health classification?</a:t>
            </a:r>
          </a:p>
          <a:p>
            <a:pPr>
              <a:spcBef>
                <a:spcPts val="1200"/>
              </a:spcBef>
              <a:defRPr sz="1800"/>
            </a:pPr>
            <a:r>
              <a:t>3. What mitigation strategies effectively reduce algorithmic bias?</a:t>
            </a:r>
          </a:p>
          <a:p>
            <a:pPr>
              <a:spcBef>
                <a:spcPts val="1200"/>
              </a:spcBef>
              <a:defRPr sz="1800"/>
            </a:pPr>
            <a:r>
              <a:t>4. How do we balance model performance with fairness requirements?</a:t>
            </a:r>
          </a:p>
          <a:p>
            <a:pPr>
              <a:spcBef>
                <a:spcPts val="1200"/>
              </a:spcBef>
              <a:defRPr sz="1800"/>
            </a:pPr>
            <a:r>
              <a:t>5. What ethical frameworks ensure responsible AI deployment?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Literature Review: XAI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/>
            </a:pPr>
            <a:r>
              <a:t>SHAP (SHapley Additive exPlanations)</a:t>
            </a:r>
          </a:p>
          <a:p>
            <a:pPr>
              <a:spcBef>
                <a:spcPts val="1200"/>
              </a:spcBef>
              <a:defRPr sz="1800"/>
            </a:pPr>
            <a:r>
              <a:t>  • Game theory-based feature attribution</a:t>
            </a:r>
          </a:p>
          <a:p>
            <a:pPr>
              <a:spcBef>
                <a:spcPts val="1200"/>
              </a:spcBef>
              <a:defRPr sz="1800"/>
            </a:pPr>
            <a:r>
              <a:t>  • Provides global and local interpretability</a:t>
            </a:r>
          </a:p>
          <a:p>
            <a:pPr>
              <a:spcBef>
                <a:spcPts val="1200"/>
              </a:spcBef>
              <a:defRPr sz="1800"/>
            </a:pPr>
            <a:r>
              <a:t>  • Consistent and theoretically sound</a:t>
            </a:r>
          </a:p>
          <a:p>
            <a:pPr>
              <a:spcBef>
                <a:spcPts val="1200"/>
              </a:spcBef>
              <a:defRPr sz="1800"/>
            </a:pPr>
            <a:r>
              <a:t>LIME (Local Interpretable Model-agnostic Explanations)</a:t>
            </a:r>
          </a:p>
          <a:p>
            <a:pPr>
              <a:spcBef>
                <a:spcPts val="1200"/>
              </a:spcBef>
              <a:defRPr sz="1800"/>
            </a:pPr>
            <a:r>
              <a:t>  • Local approximation of black-box models</a:t>
            </a:r>
          </a:p>
          <a:p>
            <a:pPr>
              <a:spcBef>
                <a:spcPts val="1200"/>
              </a:spcBef>
              <a:defRPr sz="1800"/>
            </a:pPr>
            <a:r>
              <a:t>  • Model-agnostic approach</a:t>
            </a:r>
          </a:p>
          <a:p>
            <a:pPr>
              <a:spcBef>
                <a:spcPts val="1200"/>
              </a:spcBef>
              <a:defRPr sz="1800"/>
            </a:pPr>
            <a:r>
              <a:t>  • Human-interpretable explanations</a:t>
            </a:r>
          </a:p>
          <a:p>
            <a:pPr>
              <a:spcBef>
                <a:spcPts val="1200"/>
              </a:spcBef>
              <a:defRPr sz="1800"/>
            </a:pPr>
            <a:r>
              <a:t>Both techniques critical for clinical AI systems (Lundberg et al., 2020)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Literature Review: Bias in Healthcare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/>
            </a:pPr>
            <a:r>
              <a:t>Obermeyer et al. (2019): Racial bias in healthcare algorithms</a:t>
            </a:r>
          </a:p>
          <a:p>
            <a:pPr>
              <a:spcBef>
                <a:spcPts val="1200"/>
              </a:spcBef>
              <a:defRPr sz="1800"/>
            </a:pPr>
            <a:r>
              <a:t>  • Algorithms showed significant disparities across demographic groups</a:t>
            </a:r>
          </a:p>
          <a:p>
            <a:pPr>
              <a:spcBef>
                <a:spcPts val="1200"/>
              </a:spcBef>
              <a:defRPr sz="1800"/>
            </a:pPr>
            <a:r>
              <a:t>Rajkomar et al. (2018): Challenges in clinical ML</a:t>
            </a:r>
          </a:p>
          <a:p>
            <a:pPr>
              <a:spcBef>
                <a:spcPts val="1200"/>
              </a:spcBef>
              <a:defRPr sz="1800"/>
            </a:pPr>
            <a:r>
              <a:t>  • Bias amplification in training data</a:t>
            </a:r>
          </a:p>
          <a:p>
            <a:pPr>
              <a:spcBef>
                <a:spcPts val="1200"/>
              </a:spcBef>
              <a:defRPr sz="1800"/>
            </a:pPr>
            <a:r>
              <a:t>  • Need for fairness-aware machine learning</a:t>
            </a:r>
          </a:p>
          <a:p>
            <a:pPr>
              <a:spcBef>
                <a:spcPts val="1200"/>
              </a:spcBef>
              <a:defRPr sz="1800"/>
            </a:pPr>
            <a:r>
              <a:t>Mehrabi et al. (2021): Survey of fairness in ML</a:t>
            </a:r>
          </a:p>
          <a:p>
            <a:pPr>
              <a:spcBef>
                <a:spcPts val="1200"/>
              </a:spcBef>
              <a:defRPr sz="1800"/>
            </a:pPr>
            <a:r>
              <a:t>  • Multiple fairness definitions (demographic parity, equalized odds)</a:t>
            </a:r>
          </a:p>
          <a:p>
            <a:pPr>
              <a:spcBef>
                <a:spcPts val="1200"/>
              </a:spcBef>
              <a:defRPr sz="1800"/>
            </a:pPr>
            <a:r>
              <a:t>  • Trade-offs between accuracy and fairness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Methodology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/>
            </a:pPr>
            <a:r>
              <a:t>Dataset: Mental Health in Tech Survey (1000 samples)</a:t>
            </a:r>
          </a:p>
          <a:p>
            <a:pPr>
              <a:spcBef>
                <a:spcPts val="1200"/>
              </a:spcBef>
              <a:defRPr sz="1800"/>
            </a:pPr>
            <a:r>
              <a:t>  • Demographics, work environment, mental health history</a:t>
            </a:r>
          </a:p>
          <a:p>
            <a:pPr>
              <a:spcBef>
                <a:spcPts val="1200"/>
              </a:spcBef>
              <a:defRPr sz="1800"/>
            </a:pPr>
            <a:r>
              <a:t>  • Target: Treatment-seeking behavior</a:t>
            </a:r>
          </a:p>
          <a:p>
            <a:pPr>
              <a:spcBef>
                <a:spcPts val="1200"/>
              </a:spcBef>
              <a:defRPr sz="1800"/>
            </a:pPr>
            <a:r>
              <a:t>Approach:</a:t>
            </a:r>
          </a:p>
          <a:p>
            <a:pPr>
              <a:spcBef>
                <a:spcPts val="1200"/>
              </a:spcBef>
              <a:defRPr sz="1800"/>
            </a:pPr>
            <a:r>
              <a:t>  1. Data preprocessing and exploratory analysis</a:t>
            </a:r>
          </a:p>
          <a:p>
            <a:pPr>
              <a:spcBef>
                <a:spcPts val="1200"/>
              </a:spcBef>
              <a:defRPr sz="1800"/>
            </a:pPr>
            <a:r>
              <a:t>  2. Multi-model training and evaluation</a:t>
            </a:r>
          </a:p>
          <a:p>
            <a:pPr>
              <a:spcBef>
                <a:spcPts val="1200"/>
              </a:spcBef>
              <a:defRPr sz="1800"/>
            </a:pPr>
            <a:r>
              <a:t>  3. SHAP and LIME explainability analysis</a:t>
            </a:r>
          </a:p>
          <a:p>
            <a:pPr>
              <a:spcBef>
                <a:spcPts val="1200"/>
              </a:spcBef>
              <a:defRPr sz="1800"/>
            </a:pPr>
            <a:r>
              <a:t>  4. Bias detection across demographic groups</a:t>
            </a:r>
          </a:p>
          <a:p>
            <a:pPr>
              <a:spcBef>
                <a:spcPts val="1200"/>
              </a:spcBef>
              <a:defRPr sz="1800"/>
            </a:pPr>
            <a:r>
              <a:t>  5. Bias mitigation through reweighting</a:t>
            </a:r>
          </a:p>
          <a:p>
            <a:pPr>
              <a:spcBef>
                <a:spcPts val="1200"/>
              </a:spcBef>
              <a:defRPr sz="1800"/>
            </a:pPr>
            <a:r>
              <a:t>  6. Ethical implications assessment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Data Exploration</a:t>
            </a:r>
          </a:p>
        </p:txBody>
      </p:sp>
      <p:pic>
        <p:nvPicPr>
          <p:cNvPr id="3" name="Picture 2" descr="01_data_explo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25822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Distribution of treatment-seeking behavior and age demographics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Model Performance Comparison</a:t>
            </a:r>
          </a:p>
        </p:txBody>
      </p:sp>
      <p:pic>
        <p:nvPicPr>
          <p:cNvPr id="3" name="Picture 2" descr="02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362276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Gradient Boosting achieved best F1 score (0.67)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Model Evaluation - Confusion Matrix</a:t>
            </a:r>
          </a:p>
        </p:txBody>
      </p:sp>
      <p:pic>
        <p:nvPicPr>
          <p:cNvPr id="3" name="Picture 2" descr="03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668171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Performance analysis of best-performing 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Feature Importance Analysis</a:t>
            </a:r>
          </a:p>
        </p:txBody>
      </p:sp>
      <p:pic>
        <p:nvPicPr>
          <p:cNvPr id="3" name="Picture 2" descr="04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8631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Key predictors: family history, work interference, benefits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SHAP Feature Importance</a:t>
            </a:r>
          </a:p>
        </p:txBody>
      </p:sp>
      <p:pic>
        <p:nvPicPr>
          <p:cNvPr id="3" name="Picture 2" descr="05_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61232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Global feature importance using SHAP values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SHAP Detailed Analysis</a:t>
            </a:r>
          </a:p>
        </p:txBody>
      </p:sp>
      <p:pic>
        <p:nvPicPr>
          <p:cNvPr id="3" name="Picture 2" descr="06_shap_detai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63650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Feature impact on individual predictions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LIME Local Explanations</a:t>
            </a:r>
          </a:p>
        </p:txBody>
      </p:sp>
      <p:pic>
        <p:nvPicPr>
          <p:cNvPr id="3" name="Picture 2" descr="08_lime_explan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5389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Human-interpretable explanations for individual predictions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Fairness Analysis Across Demographics</a:t>
            </a:r>
          </a:p>
        </p:txBody>
      </p:sp>
      <p:pic>
        <p:nvPicPr>
          <p:cNvPr id="3" name="Picture 2" descr="09_fairness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2858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Measuring bias using demographic parity and equalized odds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Bias Mitigation Results</a:t>
            </a:r>
          </a:p>
        </p:txBody>
      </p:sp>
      <p:pic>
        <p:nvPicPr>
          <p:cNvPr id="3" name="Picture 2" descr="10_bias_mitig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3620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Impact of reweighting on fairness metrics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Key Findings: Explainability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/>
            </a:pPr>
            <a:r>
              <a:t>SHAP Analysis revealed:</a:t>
            </a:r>
          </a:p>
          <a:p>
            <a:pPr>
              <a:spcBef>
                <a:spcPts val="1200"/>
              </a:spcBef>
              <a:defRPr sz="1800"/>
            </a:pPr>
            <a:r>
              <a:t>  • Family history, work interference, and benefits as top predictors</a:t>
            </a:r>
          </a:p>
          <a:p>
            <a:pPr>
              <a:spcBef>
                <a:spcPts val="1200"/>
              </a:spcBef>
              <a:defRPr sz="1800"/>
            </a:pPr>
            <a:r>
              <a:t>  • Consistent feature importance across model types</a:t>
            </a:r>
          </a:p>
          <a:p>
            <a:pPr>
              <a:spcBef>
                <a:spcPts val="1200"/>
              </a:spcBef>
              <a:defRPr sz="1800"/>
            </a:pPr>
            <a:r>
              <a:t>  • Individual prediction explanations align with clinical intuition</a:t>
            </a:r>
          </a:p>
          <a:p>
            <a:pPr>
              <a:spcBef>
                <a:spcPts val="1200"/>
              </a:spcBef>
              <a:defRPr sz="1800"/>
            </a:pPr>
            <a:r>
              <a:t>LIME Analysis showed:</a:t>
            </a:r>
          </a:p>
          <a:p>
            <a:pPr>
              <a:spcBef>
                <a:spcPts val="1200"/>
              </a:spcBef>
              <a:defRPr sz="1800"/>
            </a:pPr>
            <a:r>
              <a:t>  • Local explanations vary significantly across individuals</a:t>
            </a:r>
          </a:p>
          <a:p>
            <a:pPr>
              <a:spcBef>
                <a:spcPts val="1200"/>
              </a:spcBef>
              <a:defRPr sz="1800"/>
            </a:pPr>
            <a:r>
              <a:t>  • Model-agnostic approach validates SHAP findings</a:t>
            </a:r>
          </a:p>
          <a:p>
            <a:pPr>
              <a:spcBef>
                <a:spcPts val="1200"/>
              </a:spcBef>
              <a:defRPr sz="1800"/>
            </a:pPr>
            <a:r>
              <a:t>  • Human-interpretable feature contributions</a:t>
            </a:r>
          </a:p>
          <a:p>
            <a:pPr>
              <a:spcBef>
                <a:spcPts val="1200"/>
              </a:spcBef>
              <a:defRPr sz="1800"/>
            </a:pPr>
            <a:r>
              <a:t>Clinical Implications:</a:t>
            </a:r>
          </a:p>
          <a:p>
            <a:pPr>
              <a:spcBef>
                <a:spcPts val="1200"/>
              </a:spcBef>
              <a:defRPr sz="1800"/>
            </a:pPr>
            <a:r>
              <a:t>  • Enables clinician oversight and validation</a:t>
            </a:r>
          </a:p>
          <a:p>
            <a:pPr>
              <a:spcBef>
                <a:spcPts val="1200"/>
              </a:spcBef>
              <a:defRPr sz="1800"/>
            </a:pPr>
            <a:r>
              <a:t>  • Supports informed decision-making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Key Findings: Bias &amp; Fairness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/>
            </a:pPr>
            <a:r>
              <a:t>Bias Detection Results:</a:t>
            </a:r>
          </a:p>
          <a:p>
            <a:pPr>
              <a:spcBef>
                <a:spcPts val="1200"/>
              </a:spcBef>
              <a:defRPr sz="1800"/>
            </a:pPr>
            <a:r>
              <a:t>  • Disparate Impact Ratio: 1.115 (within acceptable range 0.8-1.25)</a:t>
            </a:r>
          </a:p>
          <a:p>
            <a:pPr>
              <a:spcBef>
                <a:spcPts val="1200"/>
              </a:spcBef>
              <a:defRPr sz="1800"/>
            </a:pPr>
            <a:r>
              <a:t>  • Statistical Parity Difference: 0.346 (significant disparity detected)</a:t>
            </a:r>
          </a:p>
          <a:p>
            <a:pPr>
              <a:spcBef>
                <a:spcPts val="1200"/>
              </a:spcBef>
              <a:defRPr sz="1800"/>
            </a:pPr>
            <a:r>
              <a:t>  • Varying True Positive Rates across gender groups</a:t>
            </a:r>
          </a:p>
          <a:p>
            <a:pPr>
              <a:spcBef>
                <a:spcPts val="1200"/>
              </a:spcBef>
              <a:defRPr sz="1800"/>
            </a:pPr>
            <a:r>
              <a:t>Mitigation Strategies:</a:t>
            </a:r>
          </a:p>
          <a:p>
            <a:pPr>
              <a:spcBef>
                <a:spcPts val="1200"/>
              </a:spcBef>
              <a:defRPr sz="1800"/>
            </a:pPr>
            <a:r>
              <a:t>  • Reweighting reduced prediction rate disparities</a:t>
            </a:r>
          </a:p>
          <a:p>
            <a:pPr>
              <a:spcBef>
                <a:spcPts val="1200"/>
              </a:spcBef>
              <a:defRPr sz="1800"/>
            </a:pPr>
            <a:r>
              <a:t>  • Trade-off: slight decrease in overall accuracy</a:t>
            </a:r>
          </a:p>
          <a:p>
            <a:pPr>
              <a:spcBef>
                <a:spcPts val="1200"/>
              </a:spcBef>
              <a:defRPr sz="1800"/>
            </a:pPr>
            <a:r>
              <a:t>  • Improved fairness metrics across demographics</a:t>
            </a:r>
          </a:p>
          <a:p>
            <a:pPr>
              <a:spcBef>
                <a:spcPts val="1200"/>
              </a:spcBef>
              <a:defRPr sz="1800"/>
            </a:pPr>
            <a:r>
              <a:t>Lessons Learned:</a:t>
            </a:r>
          </a:p>
          <a:p>
            <a:pPr>
              <a:spcBef>
                <a:spcPts val="1200"/>
              </a:spcBef>
              <a:defRPr sz="1800"/>
            </a:pPr>
            <a:r>
              <a:t>  • No single fairness metric tells the complete story</a:t>
            </a:r>
          </a:p>
          <a:p>
            <a:pPr>
              <a:spcBef>
                <a:spcPts val="1200"/>
              </a:spcBef>
              <a:defRPr sz="1800"/>
            </a:pPr>
            <a:r>
              <a:t>  • Context-specific fairness definitions are critical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Ethical Framework for Mental Health AI</a:t>
            </a:r>
          </a:p>
        </p:txBody>
      </p:sp>
      <p:pic>
        <p:nvPicPr>
          <p:cNvPr id="3" name="Picture 2" descr="11_ethical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210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Comprehensive ethical considerations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Ethical Implications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/>
            </a:pPr>
            <a:r>
              <a:t>Transparency &amp; Explainability:</a:t>
            </a:r>
          </a:p>
          <a:p>
            <a:pPr>
              <a:spcBef>
                <a:spcPts val="1200"/>
              </a:spcBef>
              <a:defRPr sz="1800"/>
            </a:pPr>
            <a:r>
              <a:t>  • XAI techniques enable clinical oversight</a:t>
            </a:r>
          </a:p>
          <a:p>
            <a:pPr>
              <a:spcBef>
                <a:spcPts val="1200"/>
              </a:spcBef>
              <a:defRPr sz="1800"/>
            </a:pPr>
            <a:r>
              <a:t>  • Individual prediction explanations support informed consent</a:t>
            </a:r>
          </a:p>
          <a:p>
            <a:pPr>
              <a:spcBef>
                <a:spcPts val="1200"/>
              </a:spcBef>
              <a:defRPr sz="1800"/>
            </a:pPr>
            <a:r>
              <a:t>Fairness &amp; Non-discrimination:</a:t>
            </a:r>
          </a:p>
          <a:p>
            <a:pPr>
              <a:spcBef>
                <a:spcPts val="1200"/>
              </a:spcBef>
              <a:defRPr sz="1800"/>
            </a:pPr>
            <a:r>
              <a:t>  • Continuous monitoring across demographic groups required</a:t>
            </a:r>
          </a:p>
          <a:p>
            <a:pPr>
              <a:spcBef>
                <a:spcPts val="1200"/>
              </a:spcBef>
              <a:defRPr sz="1800"/>
            </a:pPr>
            <a:r>
              <a:t>  • Bias mitigation must be context-appropriate</a:t>
            </a:r>
          </a:p>
          <a:p>
            <a:pPr>
              <a:spcBef>
                <a:spcPts val="1200"/>
              </a:spcBef>
              <a:defRPr sz="1800"/>
            </a:pPr>
            <a:r>
              <a:t>Privacy &amp; Data Protection:</a:t>
            </a:r>
          </a:p>
          <a:p>
            <a:pPr>
              <a:spcBef>
                <a:spcPts val="1200"/>
              </a:spcBef>
              <a:defRPr sz="1800"/>
            </a:pPr>
            <a:r>
              <a:t>  • GDPR/HIPAA compliance essential</a:t>
            </a:r>
          </a:p>
          <a:p>
            <a:pPr>
              <a:spcBef>
                <a:spcPts val="1200"/>
              </a:spcBef>
              <a:defRPr sz="1800"/>
            </a:pPr>
            <a:r>
              <a:t>  • Differential privacy and federated learning recommended</a:t>
            </a:r>
          </a:p>
          <a:p>
            <a:pPr>
              <a:spcBef>
                <a:spcPts val="1200"/>
              </a:spcBef>
              <a:defRPr sz="1800"/>
            </a:pPr>
            <a:r>
              <a:t>Safety &amp; Clinical Oversight:</a:t>
            </a:r>
          </a:p>
          <a:p>
            <a:pPr>
              <a:spcBef>
                <a:spcPts val="1200"/>
              </a:spcBef>
              <a:defRPr sz="1800"/>
            </a:pPr>
            <a:r>
              <a:t>  • Human-in-the-loop for high-risk decisions</a:t>
            </a:r>
          </a:p>
          <a:p>
            <a:pPr>
              <a:spcBef>
                <a:spcPts val="1200"/>
              </a:spcBef>
              <a:defRPr sz="1800"/>
            </a:pPr>
            <a:r>
              <a:t>  • Clear escalation protocols for crisis situations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Regulatory &amp; Legal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/>
            </a:pPr>
            <a:r>
              <a:t>Medical Device Regulation:</a:t>
            </a:r>
          </a:p>
          <a:p>
            <a:pPr>
              <a:spcBef>
                <a:spcPts val="1200"/>
              </a:spcBef>
              <a:defRPr sz="1800"/>
            </a:pPr>
            <a:r>
              <a:t>  • FDA (US) and MHRA (UK) approval pathways</a:t>
            </a:r>
          </a:p>
          <a:p>
            <a:pPr>
              <a:spcBef>
                <a:spcPts val="1200"/>
              </a:spcBef>
              <a:defRPr sz="1800"/>
            </a:pPr>
            <a:r>
              <a:t>  • Classification as medical device vs. wellness tool</a:t>
            </a:r>
          </a:p>
          <a:p>
            <a:pPr>
              <a:spcBef>
                <a:spcPts val="1200"/>
              </a:spcBef>
              <a:defRPr sz="1800"/>
            </a:pPr>
            <a:r>
              <a:t>AI-Specific Regulation:</a:t>
            </a:r>
          </a:p>
          <a:p>
            <a:pPr>
              <a:spcBef>
                <a:spcPts val="1200"/>
              </a:spcBef>
              <a:defRPr sz="1800"/>
            </a:pPr>
            <a:r>
              <a:t>  • EU AI Act: High-risk AI system requirements</a:t>
            </a:r>
          </a:p>
          <a:p>
            <a:pPr>
              <a:spcBef>
                <a:spcPts val="1200"/>
              </a:spcBef>
              <a:defRPr sz="1800"/>
            </a:pPr>
            <a:r>
              <a:t>  • Transparency and accountability obligations</a:t>
            </a:r>
          </a:p>
          <a:p>
            <a:pPr>
              <a:spcBef>
                <a:spcPts val="1200"/>
              </a:spcBef>
              <a:defRPr sz="1800"/>
            </a:pPr>
            <a:r>
              <a:t>Liability Frameworks:</a:t>
            </a:r>
          </a:p>
          <a:p>
            <a:pPr>
              <a:spcBef>
                <a:spcPts val="1200"/>
              </a:spcBef>
              <a:defRPr sz="1800"/>
            </a:pPr>
            <a:r>
              <a:t>  • Unclear assignment of responsibility</a:t>
            </a:r>
          </a:p>
          <a:p>
            <a:pPr>
              <a:spcBef>
                <a:spcPts val="1200"/>
              </a:spcBef>
              <a:defRPr sz="1800"/>
            </a:pPr>
            <a:r>
              <a:t>  • Need for clear contractual agreements</a:t>
            </a:r>
          </a:p>
          <a:p>
            <a:pPr>
              <a:spcBef>
                <a:spcPts val="1200"/>
              </a:spcBef>
              <a:defRPr sz="1800"/>
            </a:pPr>
            <a:r>
              <a:t>Data Protection:</a:t>
            </a:r>
          </a:p>
          <a:p>
            <a:pPr>
              <a:spcBef>
                <a:spcPts val="1200"/>
              </a:spcBef>
              <a:defRPr sz="1800"/>
            </a:pPr>
            <a:r>
              <a:t>  • Cross-border data transfer challenges</a:t>
            </a:r>
          </a:p>
          <a:p>
            <a:pPr>
              <a:spcBef>
                <a:spcPts val="1200"/>
              </a:spcBef>
              <a:defRPr sz="1800"/>
            </a:pPr>
            <a:r>
              <a:t>  • Patient consent and data rights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Limitations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/>
            </a:pPr>
            <a:r>
              <a:t>Current Limitations:</a:t>
            </a:r>
          </a:p>
          <a:p>
            <a:pPr>
              <a:spcBef>
                <a:spcPts val="1200"/>
              </a:spcBef>
              <a:defRPr sz="1800"/>
            </a:pPr>
            <a:r>
              <a:t>  • Synthetic dataset for demonstration (real-world data needed)</a:t>
            </a:r>
          </a:p>
          <a:p>
            <a:pPr>
              <a:spcBef>
                <a:spcPts val="1200"/>
              </a:spcBef>
              <a:defRPr sz="1800"/>
            </a:pPr>
            <a:r>
              <a:t>  • Limited demographic diversity</a:t>
            </a:r>
          </a:p>
          <a:p>
            <a:pPr>
              <a:spcBef>
                <a:spcPts val="1200"/>
              </a:spcBef>
              <a:defRPr sz="1800"/>
            </a:pPr>
            <a:r>
              <a:t>  • Single point-in-time analysis (no longitudinal data)</a:t>
            </a:r>
          </a:p>
          <a:p>
            <a:pPr>
              <a:spcBef>
                <a:spcPts val="1200"/>
              </a:spcBef>
              <a:defRPr sz="1800"/>
            </a:pPr>
            <a:r>
              <a:t>  • Cultural bias in feature selection</a:t>
            </a:r>
          </a:p>
          <a:p>
            <a:pPr>
              <a:spcBef>
                <a:spcPts val="1200"/>
              </a:spcBef>
              <a:defRPr sz="1800"/>
            </a:pPr>
            <a:r>
              <a:t>Future Work:</a:t>
            </a:r>
          </a:p>
          <a:p>
            <a:pPr>
              <a:spcBef>
                <a:spcPts val="1200"/>
              </a:spcBef>
              <a:defRPr sz="1800"/>
            </a:pPr>
            <a:r>
              <a:t>  • Expand to multi-modal data (text, voice, behavioral)</a:t>
            </a:r>
          </a:p>
          <a:p>
            <a:pPr>
              <a:spcBef>
                <a:spcPts val="1200"/>
              </a:spcBef>
              <a:defRPr sz="1800"/>
            </a:pPr>
            <a:r>
              <a:t>  • Longitudinal validation studies</a:t>
            </a:r>
          </a:p>
          <a:p>
            <a:pPr>
              <a:spcBef>
                <a:spcPts val="1200"/>
              </a:spcBef>
              <a:defRPr sz="1800"/>
            </a:pPr>
            <a:r>
              <a:t>  • Integration with clinical workflows</a:t>
            </a:r>
          </a:p>
          <a:p>
            <a:pPr>
              <a:spcBef>
                <a:spcPts val="1200"/>
              </a:spcBef>
              <a:defRPr sz="1800"/>
            </a:pPr>
            <a:r>
              <a:t>  • Continuous learning with clinician feedback</a:t>
            </a:r>
          </a:p>
          <a:p>
            <a:pPr>
              <a:spcBef>
                <a:spcPts val="1200"/>
              </a:spcBef>
              <a:defRPr sz="1800"/>
            </a:pPr>
            <a:r>
              <a:t>  • Cross-cultural validation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Technical Implementation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/>
            </a:pPr>
            <a:r>
              <a:t>Libraries &amp; Technologies:</a:t>
            </a:r>
          </a:p>
          <a:p>
            <a:pPr>
              <a:spcBef>
                <a:spcPts val="1200"/>
              </a:spcBef>
              <a:defRPr sz="1800"/>
            </a:pPr>
            <a:r>
              <a:t>  • scikit-learn: Model training and evaluation</a:t>
            </a:r>
          </a:p>
          <a:p>
            <a:pPr>
              <a:spcBef>
                <a:spcPts val="1200"/>
              </a:spcBef>
              <a:defRPr sz="1800"/>
            </a:pPr>
            <a:r>
              <a:t>  • SHAP: Explainability analysis</a:t>
            </a:r>
          </a:p>
          <a:p>
            <a:pPr>
              <a:spcBef>
                <a:spcPts val="1200"/>
              </a:spcBef>
              <a:defRPr sz="1800"/>
            </a:pPr>
            <a:r>
              <a:t>  • LIME: Local interpretability</a:t>
            </a:r>
          </a:p>
          <a:p>
            <a:pPr>
              <a:spcBef>
                <a:spcPts val="1200"/>
              </a:spcBef>
              <a:defRPr sz="1800"/>
            </a:pPr>
            <a:r>
              <a:t>  • pandas, numpy: Data processing</a:t>
            </a:r>
          </a:p>
          <a:p>
            <a:pPr>
              <a:spcBef>
                <a:spcPts val="1200"/>
              </a:spcBef>
              <a:defRPr sz="1800"/>
            </a:pPr>
            <a:r>
              <a:t>  • matplotlib, seaborn: Visualization</a:t>
            </a:r>
          </a:p>
          <a:p>
            <a:pPr>
              <a:spcBef>
                <a:spcPts val="1200"/>
              </a:spcBef>
              <a:defRPr sz="1800"/>
            </a:pPr>
            <a:r>
              <a:t>Code Quality:</a:t>
            </a:r>
          </a:p>
          <a:p>
            <a:pPr>
              <a:spcBef>
                <a:spcPts val="1200"/>
              </a:spcBef>
              <a:defRPr sz="1800"/>
            </a:pPr>
            <a:r>
              <a:t>  • Modular, well-documented functions</a:t>
            </a:r>
          </a:p>
          <a:p>
            <a:pPr>
              <a:spcBef>
                <a:spcPts val="1200"/>
              </a:spcBef>
              <a:defRPr sz="1800"/>
            </a:pPr>
            <a:r>
              <a:t>  • Comprehensive error handling</a:t>
            </a:r>
          </a:p>
          <a:p>
            <a:pPr>
              <a:spcBef>
                <a:spcPts val="1200"/>
              </a:spcBef>
              <a:defRPr sz="1800"/>
            </a:pPr>
            <a:r>
              <a:t>  • Reproducible results (fixed random seeds)</a:t>
            </a:r>
          </a:p>
          <a:p>
            <a:pPr>
              <a:spcBef>
                <a:spcPts val="1200"/>
              </a:spcBef>
              <a:defRPr sz="1800"/>
            </a:pPr>
            <a:r>
              <a:t>  • Production-ready structure</a:t>
            </a:r>
          </a:p>
          <a:p>
            <a:pPr>
              <a:spcBef>
                <a:spcPts val="1200"/>
              </a:spcBef>
              <a:defRPr sz="1800"/>
            </a:pPr>
            <a:r>
              <a:t>Total: ~1200 lines of documented Python code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/>
            </a:pPr>
            <a:r>
              <a:t>Demonstrated successful integration of XAI in mental health AI:</a:t>
            </a:r>
          </a:p>
          <a:p>
            <a:pPr>
              <a:spcBef>
                <a:spcPts val="1200"/>
              </a:spcBef>
              <a:defRPr sz="1800"/>
            </a:pPr>
            <a:r>
              <a:t>  ✓ SHAP and LIME provide complementary explainability</a:t>
            </a:r>
          </a:p>
          <a:p>
            <a:pPr>
              <a:spcBef>
                <a:spcPts val="1200"/>
              </a:spcBef>
              <a:defRPr sz="1800"/>
            </a:pPr>
            <a:r>
              <a:t>  ✓ Bias detection reveals fairness challenges</a:t>
            </a:r>
          </a:p>
          <a:p>
            <a:pPr>
              <a:spcBef>
                <a:spcPts val="1200"/>
              </a:spcBef>
              <a:defRPr sz="1800"/>
            </a:pPr>
            <a:r>
              <a:t>  ✓ Mitigation strategies improve equity (with trade-offs)</a:t>
            </a:r>
          </a:p>
          <a:p>
            <a:pPr>
              <a:spcBef>
                <a:spcPts val="1200"/>
              </a:spcBef>
              <a:defRPr sz="1800"/>
            </a:pPr>
            <a:r>
              <a:t>  ✓ Comprehensive ethical framework guides deployment</a:t>
            </a:r>
          </a:p>
          <a:p>
            <a:pPr>
              <a:spcBef>
                <a:spcPts val="1200"/>
              </a:spcBef>
              <a:defRPr sz="1800"/>
            </a:pPr>
            <a:r>
              <a:t>Key Takeaways:</a:t>
            </a:r>
          </a:p>
          <a:p>
            <a:pPr>
              <a:spcBef>
                <a:spcPts val="1200"/>
              </a:spcBef>
              <a:defRPr sz="1800"/>
            </a:pPr>
            <a:r>
              <a:t>  • Transparency is achievable through XAI techniques</a:t>
            </a:r>
          </a:p>
          <a:p>
            <a:pPr>
              <a:spcBef>
                <a:spcPts val="1200"/>
              </a:spcBef>
              <a:defRPr sz="1800"/>
            </a:pPr>
            <a:r>
              <a:t>  • Fairness requires continuous monitoring and context-specific approaches</a:t>
            </a:r>
          </a:p>
          <a:p>
            <a:pPr>
              <a:spcBef>
                <a:spcPts val="1200"/>
              </a:spcBef>
              <a:defRPr sz="1800"/>
            </a:pPr>
            <a:r>
              <a:t>  • Technical solutions must be coupled with ethical governance</a:t>
            </a:r>
          </a:p>
          <a:p>
            <a:pPr>
              <a:spcBef>
                <a:spcPts val="1200"/>
              </a:spcBef>
              <a:defRPr sz="1800"/>
            </a:pPr>
            <a:r>
              <a:t>  • Multidisciplinary collaboration is essential</a:t>
            </a:r>
          </a:p>
          <a:p>
            <a:pPr>
              <a:spcBef>
                <a:spcPts val="1200"/>
              </a:spcBef>
              <a:defRPr sz="1800"/>
            </a:pPr>
            <a:r>
              <a:t>Mental health AI holds promise, but responsible deployment requires</a:t>
            </a:r>
          </a:p>
          <a:p>
            <a:pPr>
              <a:spcBef>
                <a:spcPts val="1200"/>
              </a:spcBef>
              <a:defRPr sz="1800"/>
            </a:pPr>
            <a:r>
              <a:t>ongoing commitment to transparency, fairness, and patient safety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References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/>
            </a:pPr>
            <a:r>
              <a:t>Lundberg, S. M., &amp; Lee, S. I. (2017). A unified approach to interpreting model predictions. NIPS.</a:t>
            </a:r>
          </a:p>
          <a:p>
            <a:pPr>
              <a:spcBef>
                <a:spcPts val="1200"/>
              </a:spcBef>
              <a:defRPr sz="1800"/>
            </a:pPr>
            <a:r>
              <a:t>Ribeiro, M. T., et al. (2016). Why should I trust you? Explaining predictions of ML models. KDD.</a:t>
            </a:r>
          </a:p>
          <a:p>
            <a:pPr>
              <a:spcBef>
                <a:spcPts val="1200"/>
              </a:spcBef>
              <a:defRPr sz="1800"/>
            </a:pPr>
            <a:r>
              <a:t>Obermeyer, Z., et al. (2019). Dissecting racial bias in an algorithm. Science, 366(6464).</a:t>
            </a:r>
          </a:p>
          <a:p>
            <a:pPr>
              <a:spcBef>
                <a:spcPts val="1200"/>
              </a:spcBef>
              <a:defRPr sz="1800"/>
            </a:pPr>
            <a:r>
              <a:t>Rajkomar, A., et al. (2018). Ensuring fairness in ML to advance health equity. Annals of Internal Medicine.</a:t>
            </a:r>
          </a:p>
          <a:p>
            <a:pPr>
              <a:spcBef>
                <a:spcPts val="1200"/>
              </a:spcBef>
              <a:defRPr sz="1800"/>
            </a:pPr>
            <a:r>
              <a:t>Mehrabi, N., et al. (2021). A survey on bias and fairness in machine learning. ACM Computing Surveys.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References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/>
            </a:pPr>
            <a:r>
              <a:t>Char, D. S., et al. (2020). Implementing ML in health care. NEJM, 383(10).</a:t>
            </a:r>
          </a:p>
          <a:p>
            <a:pPr>
              <a:spcBef>
                <a:spcPts val="1200"/>
              </a:spcBef>
              <a:defRPr sz="1800"/>
            </a:pPr>
            <a:r>
              <a:t>Hardt, M., et al. (2016). Equality of opportunity in supervised learning. NIPS.</a:t>
            </a:r>
          </a:p>
          <a:p>
            <a:pPr>
              <a:spcBef>
                <a:spcPts val="1200"/>
              </a:spcBef>
              <a:defRPr sz="1800"/>
            </a:pPr>
            <a:r>
              <a:t>Wachter, S., et al. (2021). Bias preservation in ML. West Virginia Law Review.</a:t>
            </a:r>
          </a:p>
          <a:p>
            <a:pPr>
              <a:spcBef>
                <a:spcPts val="1200"/>
              </a:spcBef>
              <a:defRPr sz="1800"/>
            </a:pPr>
            <a:r>
              <a:t>Chen, I. Y., et al. (2019). Can AI help reduce disparities in general medical and mental health care? AMA Journal of Ethics.</a:t>
            </a:r>
          </a:p>
          <a:p>
            <a:pPr>
              <a:spcBef>
                <a:spcPts val="1200"/>
              </a:spcBef>
              <a:defRPr sz="1800"/>
            </a:pPr>
            <a:r>
              <a:t>Additional references available in code documentation and ethical report.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E79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Summen Zahid (B00996747) | COM772 - Emerging and Advanced Topics in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